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8" r:id="rId3"/>
    <p:sldId id="259" r:id="rId4"/>
    <p:sldId id="260" r:id="rId5"/>
    <p:sldId id="276" r:id="rId6"/>
    <p:sldId id="261" r:id="rId7"/>
    <p:sldId id="262" r:id="rId8"/>
    <p:sldId id="263" r:id="rId9"/>
    <p:sldId id="273" r:id="rId10"/>
    <p:sldId id="274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5" r:id="rId20"/>
    <p:sldId id="272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9900"/>
    <a:srgbClr val="93158A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88" autoAdjust="0"/>
    <p:restoredTop sz="94727" autoAdjust="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E8F75-1856-43A7-806C-D318F9EF26FC}" type="datetimeFigureOut">
              <a:rPr lang="en-US" smtClean="0"/>
              <a:pPr/>
              <a:t>7/14/2023</a:t>
            </a:fld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1877D-412B-47E0-BC53-A5D54DF6074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E8F75-1856-43A7-806C-D318F9EF26FC}" type="datetimeFigureOut">
              <a:rPr lang="en-US" smtClean="0"/>
              <a:pPr/>
              <a:t>7/14/2023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1877D-412B-47E0-BC53-A5D54DF6074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E8F75-1856-43A7-806C-D318F9EF26FC}" type="datetimeFigureOut">
              <a:rPr lang="en-US" smtClean="0"/>
              <a:pPr/>
              <a:t>7/14/2023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1877D-412B-47E0-BC53-A5D54DF6074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E8F75-1856-43A7-806C-D318F9EF26FC}" type="datetimeFigureOut">
              <a:rPr lang="en-US" smtClean="0"/>
              <a:pPr/>
              <a:t>7/14/2023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1877D-412B-47E0-BC53-A5D54DF6074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E8F75-1856-43A7-806C-D318F9EF26FC}" type="datetimeFigureOut">
              <a:rPr lang="en-US" smtClean="0"/>
              <a:pPr/>
              <a:t>7/14/2023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1877D-412B-47E0-BC53-A5D54DF6074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E8F75-1856-43A7-806C-D318F9EF26FC}" type="datetimeFigureOut">
              <a:rPr lang="en-US" smtClean="0"/>
              <a:pPr/>
              <a:t>7/14/2023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1877D-412B-47E0-BC53-A5D54DF6074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E8F75-1856-43A7-806C-D318F9EF26FC}" type="datetimeFigureOut">
              <a:rPr lang="en-US" smtClean="0"/>
              <a:pPr/>
              <a:t>7/14/2023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1877D-412B-47E0-BC53-A5D54DF6074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E8F75-1856-43A7-806C-D318F9EF26FC}" type="datetimeFigureOut">
              <a:rPr lang="en-US" smtClean="0"/>
              <a:pPr/>
              <a:t>7/14/2023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1877D-412B-47E0-BC53-A5D54DF6074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E8F75-1856-43A7-806C-D318F9EF26FC}" type="datetimeFigureOut">
              <a:rPr lang="en-US" smtClean="0"/>
              <a:pPr/>
              <a:t>7/14/2023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F771877D-412B-47E0-BC53-A5D54DF607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dirty="0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E8F75-1856-43A7-806C-D318F9EF26FC}" type="datetimeFigureOut">
              <a:rPr lang="en-US" smtClean="0"/>
              <a:pPr/>
              <a:t>7/14/2023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1877D-412B-47E0-BC53-A5D54DF6074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E8F75-1856-43A7-806C-D318F9EF26FC}" type="datetimeFigureOut">
              <a:rPr lang="en-US" smtClean="0"/>
              <a:pPr/>
              <a:t>7/14/2023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1877D-412B-47E0-BC53-A5D54DF6074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EAEE8F75-1856-43A7-806C-D318F9EF26FC}" type="datetimeFigureOut">
              <a:rPr lang="en-US" smtClean="0"/>
              <a:pPr/>
              <a:t>7/14/2023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F771877D-412B-47E0-BC53-A5D54DF6074B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dirty="0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implilearn.com/what-is-database-management-article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sql/default.asp" TargetMode="External"/><Relationship Id="rId2" Type="http://schemas.openxmlformats.org/officeDocument/2006/relationships/hyperlink" Target="https://github.com/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geeksforgeeks.org/sql-tutorial/" TargetMode="External"/><Relationship Id="rId4" Type="http://schemas.openxmlformats.org/officeDocument/2006/relationships/hyperlink" Target="https://www.tutorialspoint.com/sql/sql-overview.htm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1000" r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58204" cy="1214446"/>
          </a:xfrm>
        </p:spPr>
        <p:txBody>
          <a:bodyPr>
            <a:normAutofit fontScale="90000"/>
          </a:bodyPr>
          <a:lstStyle/>
          <a:p>
            <a:r>
              <a:rPr lang="en-GB" sz="5400" dirty="0" smtClean="0">
                <a:solidFill>
                  <a:srgbClr val="FF0000"/>
                </a:solidFill>
              </a:rPr>
              <a:t>LIBRARY MANAGEMENT SYSTEM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GB" sz="2800" dirty="0" smtClean="0">
                <a:solidFill>
                  <a:schemeClr val="accent5">
                    <a:lumMod val="50000"/>
                  </a:schemeClr>
                </a:solidFill>
              </a:rPr>
              <a:t>                       </a:t>
            </a:r>
            <a:r>
              <a:rPr lang="en-GB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CHALLENGERS TEAM</a:t>
            </a:r>
          </a:p>
          <a:p>
            <a:pPr>
              <a:buNone/>
            </a:pPr>
            <a:endParaRPr lang="en-GB" sz="2400" dirty="0" smtClean="0">
              <a:solidFill>
                <a:schemeClr val="accent5">
                  <a:lumMod val="50000"/>
                </a:schemeClr>
              </a:solidFill>
            </a:endParaRPr>
          </a:p>
          <a:p>
            <a:pPr>
              <a:buNone/>
            </a:pPr>
            <a:r>
              <a:rPr lang="en-GB" sz="28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Presented by</a:t>
            </a:r>
            <a:r>
              <a:rPr lang="en-GB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:                                                         </a:t>
            </a:r>
            <a:r>
              <a:rPr lang="en-GB" sz="28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Submitted To</a:t>
            </a:r>
          </a:p>
          <a:p>
            <a:pPr lvl="1">
              <a:buNone/>
            </a:pPr>
            <a:r>
              <a:rPr lang="en-GB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K.Keerthi                                                                   Mr.Arjun</a:t>
            </a:r>
          </a:p>
          <a:p>
            <a:pPr lvl="1">
              <a:buNone/>
            </a:pPr>
            <a:r>
              <a:rPr lang="en-GB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H.Rajini                                                                     (Besant tech)</a:t>
            </a:r>
          </a:p>
          <a:p>
            <a:pPr lvl="1">
              <a:buNone/>
            </a:pPr>
            <a:r>
              <a:rPr lang="en-GB" sz="2000" b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SK.Nageena</a:t>
            </a:r>
            <a:endParaRPr lang="en-GB" sz="20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>
              <a:buNone/>
            </a:pPr>
            <a:r>
              <a:rPr lang="en-GB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B.Radha</a:t>
            </a:r>
          </a:p>
          <a:p>
            <a:pPr lvl="1">
              <a:buNone/>
            </a:pPr>
            <a:r>
              <a:rPr lang="en-GB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C.Bindu                                  </a:t>
            </a:r>
            <a:endParaRPr lang="en-U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85720" y="857232"/>
            <a:ext cx="7858180" cy="642942"/>
          </a:xfrm>
        </p:spPr>
        <p:txBody>
          <a:bodyPr>
            <a:normAutofit fontScale="90000"/>
          </a:bodyPr>
          <a:lstStyle/>
          <a:p>
            <a:r>
              <a:rPr lang="en-GB" sz="4000" dirty="0" smtClean="0">
                <a:solidFill>
                  <a:srgbClr val="FF0000"/>
                </a:solidFill>
              </a:rPr>
              <a:t>What is SQL? Why it is used?</a:t>
            </a:r>
            <a:endParaRPr lang="en-GB" sz="4000" dirty="0" smtClean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928802"/>
            <a:ext cx="6715140" cy="4426122"/>
          </a:xfrm>
        </p:spPr>
        <p:txBody>
          <a:bodyPr/>
          <a:lstStyle/>
          <a:p>
            <a:pPr>
              <a:buNone/>
            </a:pPr>
            <a:endParaRPr lang="en-GB" dirty="0" smtClean="0"/>
          </a:p>
          <a:p>
            <a:pPr>
              <a:buClrTx/>
              <a:buFont typeface="Wingdings" pitchFamily="2" charset="2"/>
              <a:buChar char="Ø"/>
            </a:pPr>
            <a:r>
              <a:rPr lang="en-GB" sz="2400" dirty="0" smtClean="0"/>
              <a:t>SQL stands for Structured </a:t>
            </a:r>
            <a:r>
              <a:rPr lang="en-GB" sz="2400" dirty="0" smtClean="0"/>
              <a:t>Query Language</a:t>
            </a:r>
          </a:p>
          <a:p>
            <a:pPr>
              <a:buClrTx/>
              <a:buNone/>
            </a:pPr>
            <a:r>
              <a:rPr lang="en-GB" sz="2400" dirty="0" smtClean="0"/>
              <a:t> </a:t>
            </a:r>
            <a:endParaRPr lang="en-GB" sz="2400" dirty="0" smtClean="0"/>
          </a:p>
          <a:p>
            <a:pPr>
              <a:buClrTx/>
              <a:buFont typeface="Wingdings" pitchFamily="2" charset="2"/>
              <a:buChar char="Ø"/>
            </a:pPr>
            <a:r>
              <a:rPr lang="en-GB" sz="2400" dirty="0" smtClean="0"/>
              <a:t>SQL is used to communicate with a </a:t>
            </a:r>
            <a:endParaRPr lang="en-GB" sz="2400" dirty="0" smtClean="0"/>
          </a:p>
          <a:p>
            <a:pPr>
              <a:buClrTx/>
              <a:buNone/>
            </a:pPr>
            <a:r>
              <a:rPr lang="en-GB" sz="2400" dirty="0" smtClean="0"/>
              <a:t> database.</a:t>
            </a:r>
          </a:p>
          <a:p>
            <a:pPr>
              <a:buClrTx/>
              <a:buNone/>
            </a:pPr>
            <a:endParaRPr lang="en-GB" sz="2400" dirty="0" smtClean="0"/>
          </a:p>
          <a:p>
            <a:pPr>
              <a:buClrTx/>
              <a:buFont typeface="Wingdings" pitchFamily="2" charset="2"/>
              <a:buChar char="Ø"/>
            </a:pPr>
            <a:r>
              <a:rPr lang="en-GB" sz="2400" dirty="0" smtClean="0"/>
              <a:t>SQL </a:t>
            </a:r>
            <a:r>
              <a:rPr lang="en-GB" sz="2400" dirty="0" smtClean="0"/>
              <a:t>lets us access and </a:t>
            </a:r>
            <a:r>
              <a:rPr lang="en-GB" sz="2400" dirty="0" smtClean="0"/>
              <a:t>manipulate </a:t>
            </a:r>
            <a:r>
              <a:rPr lang="en-GB" sz="2400" dirty="0" smtClean="0"/>
              <a:t>databases.</a:t>
            </a:r>
            <a:endParaRPr lang="en-US" sz="2400" dirty="0"/>
          </a:p>
        </p:txBody>
      </p:sp>
      <p:pic>
        <p:nvPicPr>
          <p:cNvPr id="6" name="Google Shape;75;p14"/>
          <p:cNvPicPr preferRelativeResize="0">
            <a:picLocks noGrp="1"/>
          </p:cNvPicPr>
          <p:nvPr>
            <p:ph sz="half" idx="2"/>
          </p:nvPr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19812" y="2214554"/>
            <a:ext cx="3024188" cy="2857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71472" y="704088"/>
            <a:ext cx="8115328" cy="796086"/>
          </a:xfrm>
        </p:spPr>
        <p:txBody>
          <a:bodyPr>
            <a:normAutofit fontScale="90000"/>
          </a:bodyPr>
          <a:lstStyle/>
          <a:p>
            <a:r>
              <a:rPr lang="en-GB" sz="5400" dirty="0" smtClean="0">
                <a:solidFill>
                  <a:srgbClr val="FF0000"/>
                </a:solidFill>
              </a:rPr>
              <a:t> </a:t>
            </a:r>
            <a:r>
              <a:rPr lang="en-GB" sz="4400" dirty="0" smtClean="0">
                <a:solidFill>
                  <a:srgbClr val="FF0000"/>
                </a:solidFill>
              </a:rPr>
              <a:t>What is query?</a:t>
            </a:r>
            <a:r>
              <a:rPr lang="en-US" sz="4400" dirty="0" smtClean="0">
                <a:solidFill>
                  <a:srgbClr val="FF0000"/>
                </a:solidFill>
              </a:rPr>
              <a:t>???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686304" cy="4434840"/>
          </a:xfrm>
        </p:spPr>
        <p:txBody>
          <a:bodyPr>
            <a:normAutofit/>
          </a:bodyPr>
          <a:lstStyle/>
          <a:p>
            <a:pPr>
              <a:buClrTx/>
              <a:buFont typeface="Wingdings" pitchFamily="2" charset="2"/>
              <a:buChar char="Ø"/>
            </a:pPr>
            <a:r>
              <a:rPr lang="en-GB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  In </a:t>
            </a:r>
            <a:r>
              <a:rPr lang="en-GB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Database, a query is a </a:t>
            </a:r>
            <a:r>
              <a:rPr lang="en-GB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request made </a:t>
            </a:r>
            <a:r>
              <a:rPr lang="en-GB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to retrieve, </a:t>
            </a:r>
            <a:r>
              <a:rPr lang="en-GB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modify </a:t>
            </a:r>
            <a:r>
              <a:rPr lang="en-GB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or delete data from a database. </a:t>
            </a:r>
            <a:endParaRPr lang="en-GB" sz="2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buClrTx/>
              <a:buFont typeface="Wingdings" pitchFamily="2" charset="2"/>
              <a:buChar char="Ø"/>
            </a:pPr>
            <a:r>
              <a:rPr lang="en-GB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It </a:t>
            </a:r>
            <a:r>
              <a:rPr lang="en-GB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is a specific instruction given to a database management </a:t>
            </a:r>
            <a:r>
              <a:rPr lang="en-GB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system </a:t>
            </a:r>
            <a:r>
              <a:rPr lang="en-GB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(DBMS) that defines a set of criteria to search for and retrieve the desired data.</a:t>
            </a:r>
          </a:p>
          <a:p>
            <a:pPr>
              <a:buClrTx/>
              <a:buFont typeface="Wingdings" pitchFamily="2" charset="2"/>
              <a:buChar char="Ø"/>
            </a:pPr>
            <a:endParaRPr lang="en-GB" sz="2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6" name="Content Placeholder 5" descr="image3.jpg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072065" y="1928802"/>
            <a:ext cx="4003741" cy="3500462"/>
          </a:xfr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 smtClean="0">
                <a:solidFill>
                  <a:srgbClr val="FF0000"/>
                </a:solidFill>
              </a:rPr>
              <a:t>What is library management system??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endParaRPr lang="en-GB" sz="2400" dirty="0" smtClean="0"/>
          </a:p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en-GB" sz="2400" dirty="0" smtClean="0"/>
              <a:t>    A library management system is software that is </a:t>
            </a:r>
          </a:p>
          <a:p>
            <a:pPr>
              <a:buClr>
                <a:schemeClr val="tx1"/>
              </a:buClr>
              <a:buNone/>
            </a:pPr>
            <a:r>
              <a:rPr lang="en-GB" sz="2400" dirty="0" smtClean="0"/>
              <a:t>designed to manage all the functions of a library. </a:t>
            </a:r>
          </a:p>
          <a:p>
            <a:pPr>
              <a:buNone/>
            </a:pPr>
            <a:endParaRPr lang="en-GB" sz="2400" dirty="0" smtClean="0"/>
          </a:p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en-GB" sz="2400" dirty="0" smtClean="0"/>
              <a:t>It helps librarian to maintain the database of new books and the books that </a:t>
            </a:r>
            <a:r>
              <a:rPr lang="en-GB" sz="2400" dirty="0" smtClean="0"/>
              <a:t>are </a:t>
            </a:r>
            <a:r>
              <a:rPr lang="en-GB" sz="2400" dirty="0" smtClean="0"/>
              <a:t>borrowed by members along with their due dates.</a:t>
            </a:r>
          </a:p>
        </p:txBody>
      </p:sp>
      <p:pic>
        <p:nvPicPr>
          <p:cNvPr id="6" name="Content Placeholder 5" descr="image5.jpg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48200" y="2118519"/>
            <a:ext cx="4038600" cy="4038600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4348" y="704088"/>
            <a:ext cx="7972452" cy="653210"/>
          </a:xfrm>
        </p:spPr>
        <p:txBody>
          <a:bodyPr>
            <a:normAutofit/>
          </a:bodyPr>
          <a:lstStyle/>
          <a:p>
            <a:r>
              <a:rPr lang="en-GB" sz="3200" dirty="0" smtClean="0">
                <a:solidFill>
                  <a:srgbClr val="FF0000"/>
                </a:solidFill>
              </a:rPr>
              <a:t>DBMS in Library Management System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en-GB" sz="2400" dirty="0" smtClean="0"/>
              <a:t>Maintaining Book Data</a:t>
            </a:r>
          </a:p>
          <a:p>
            <a:pPr>
              <a:buClr>
                <a:schemeClr val="tx1"/>
              </a:buClr>
              <a:buFont typeface="Wingdings" pitchFamily="2" charset="2"/>
              <a:buChar char="Ø"/>
            </a:pPr>
            <a:endParaRPr lang="en-GB" sz="2400" dirty="0" smtClean="0"/>
          </a:p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en-GB" sz="2400" dirty="0" smtClean="0"/>
              <a:t>Count no. </a:t>
            </a:r>
            <a:r>
              <a:rPr lang="en-GB" sz="2400" dirty="0" smtClean="0"/>
              <a:t>of copies available  for  each book</a:t>
            </a:r>
            <a:endParaRPr lang="en-GB" sz="2400" dirty="0" smtClean="0"/>
          </a:p>
          <a:p>
            <a:pPr>
              <a:buClr>
                <a:schemeClr val="tx1"/>
              </a:buClr>
              <a:buNone/>
            </a:pPr>
            <a:endParaRPr lang="en-GB" sz="2400" dirty="0" smtClean="0"/>
          </a:p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en-GB" sz="2400" dirty="0" smtClean="0"/>
              <a:t>Easy Book Search</a:t>
            </a:r>
          </a:p>
          <a:p>
            <a:pPr>
              <a:buClr>
                <a:schemeClr val="tx1"/>
              </a:buClr>
              <a:buNone/>
            </a:pPr>
            <a:endParaRPr lang="en-GB" sz="2400" dirty="0" smtClean="0"/>
          </a:p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en-GB" sz="2400" dirty="0" smtClean="0"/>
              <a:t>Penalty for return due</a:t>
            </a:r>
          </a:p>
          <a:p>
            <a:pPr>
              <a:buClr>
                <a:schemeClr val="tx1"/>
              </a:buClr>
              <a:buNone/>
            </a:pPr>
            <a:endParaRPr lang="en-GB" sz="2400" dirty="0" smtClean="0"/>
          </a:p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en-GB" sz="2400" dirty="0" smtClean="0"/>
              <a:t>Book return due</a:t>
            </a:r>
          </a:p>
          <a:p>
            <a:pPr>
              <a:buNone/>
            </a:pPr>
            <a:endParaRPr lang="en-GB" sz="2400" dirty="0" smtClean="0"/>
          </a:p>
        </p:txBody>
      </p:sp>
      <p:pic>
        <p:nvPicPr>
          <p:cNvPr id="5" name="Content Placeholder 4" descr="image 2.png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071934" y="1928802"/>
            <a:ext cx="4935434" cy="4214841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20" y="357166"/>
            <a:ext cx="8401080" cy="714380"/>
          </a:xfrm>
        </p:spPr>
        <p:txBody>
          <a:bodyPr>
            <a:normAutofit/>
          </a:bodyPr>
          <a:lstStyle/>
          <a:p>
            <a:r>
              <a:rPr lang="en-GB" sz="3600" dirty="0" smtClean="0">
                <a:solidFill>
                  <a:schemeClr val="tx1"/>
                </a:solidFill>
              </a:rPr>
              <a:t>Book_Details:</a:t>
            </a:r>
            <a:endParaRPr lang="en-US" sz="3600" dirty="0">
              <a:solidFill>
                <a:schemeClr val="tx1"/>
              </a:solidFill>
            </a:endParaRPr>
          </a:p>
        </p:txBody>
      </p:sp>
      <p:pic>
        <p:nvPicPr>
          <p:cNvPr id="4" name="Content Placeholder 3" descr="Screenshot (11)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5786" y="1500174"/>
            <a:ext cx="7072362" cy="4757114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20" y="285728"/>
            <a:ext cx="8401080" cy="1000132"/>
          </a:xfrm>
        </p:spPr>
        <p:txBody>
          <a:bodyPr>
            <a:normAutofit/>
          </a:bodyPr>
          <a:lstStyle/>
          <a:p>
            <a:r>
              <a:rPr lang="en-GB" sz="3600" dirty="0" smtClean="0">
                <a:solidFill>
                  <a:schemeClr val="tx1"/>
                </a:solidFill>
              </a:rPr>
              <a:t>Student_Detail:</a:t>
            </a:r>
            <a:endParaRPr lang="en-US" sz="3600" dirty="0">
              <a:solidFill>
                <a:schemeClr val="tx1"/>
              </a:solidFill>
            </a:endParaRPr>
          </a:p>
        </p:txBody>
      </p:sp>
      <p:pic>
        <p:nvPicPr>
          <p:cNvPr id="4" name="Content Placeholder 3" descr="Screenshot (12)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1473" y="2000241"/>
            <a:ext cx="7786742" cy="4828074"/>
          </a:xfr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20" y="285728"/>
            <a:ext cx="8401080" cy="1000132"/>
          </a:xfrm>
        </p:spPr>
        <p:txBody>
          <a:bodyPr>
            <a:normAutofit/>
          </a:bodyPr>
          <a:lstStyle/>
          <a:p>
            <a:r>
              <a:rPr lang="en-GB" sz="3600" dirty="0" smtClean="0">
                <a:solidFill>
                  <a:schemeClr val="tx1"/>
                </a:solidFill>
              </a:rPr>
              <a:t>Library_Detail:</a:t>
            </a:r>
            <a:endParaRPr lang="en-US" sz="3600" dirty="0">
              <a:solidFill>
                <a:schemeClr val="tx1"/>
              </a:solidFill>
            </a:endParaRPr>
          </a:p>
        </p:txBody>
      </p:sp>
      <p:pic>
        <p:nvPicPr>
          <p:cNvPr id="6" name="Content Placeholder 5" descr="Screenshot (13)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889376"/>
            <a:ext cx="9144000" cy="4039953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20" y="285728"/>
            <a:ext cx="8401080" cy="1000132"/>
          </a:xfrm>
        </p:spPr>
        <p:txBody>
          <a:bodyPr>
            <a:normAutofit/>
          </a:bodyPr>
          <a:lstStyle/>
          <a:p>
            <a:r>
              <a:rPr lang="en-GB" sz="3600" b="1" dirty="0" smtClean="0">
                <a:solidFill>
                  <a:schemeClr val="tx1"/>
                </a:solidFill>
              </a:rPr>
              <a:t>     E-R Diagram:</a:t>
            </a:r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 smtClean="0"/>
              <a:t>An Entity Relationship Diagram is a diagram that represents relationships among entities in a database. It is commonly known as an ER Diagram. </a:t>
            </a:r>
            <a:endParaRPr lang="en-GB" sz="2400" dirty="0" smtClean="0"/>
          </a:p>
          <a:p>
            <a:r>
              <a:rPr lang="en-GB" sz="2400" dirty="0" smtClean="0"/>
              <a:t>An </a:t>
            </a:r>
            <a:r>
              <a:rPr lang="en-GB" sz="2400" dirty="0" smtClean="0"/>
              <a:t>ER Diagram in </a:t>
            </a:r>
            <a:r>
              <a:rPr lang="en-GB" sz="2400" dirty="0" smtClean="0">
                <a:hlinkClick r:id="rId2" tooltip="DBMS"/>
              </a:rPr>
              <a:t>DBMS</a:t>
            </a:r>
            <a:r>
              <a:rPr lang="en-GB" sz="2400" dirty="0" smtClean="0"/>
              <a:t> plays a crucial role in designing the database. Today’s business world previews all the requirements demanded by the users in the form of an ER Diagram. </a:t>
            </a:r>
            <a:endParaRPr lang="en-GB" sz="2400" dirty="0" smtClean="0"/>
          </a:p>
          <a:p>
            <a:r>
              <a:rPr lang="en-GB" sz="2400" dirty="0" smtClean="0"/>
              <a:t>Later</a:t>
            </a:r>
            <a:r>
              <a:rPr lang="en-GB" sz="2400" dirty="0" smtClean="0"/>
              <a:t>, it's forwarded to the database administrators to design the database</a:t>
            </a:r>
            <a:r>
              <a:rPr lang="en-GB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20" y="285728"/>
            <a:ext cx="8401080" cy="1000132"/>
          </a:xfrm>
        </p:spPr>
        <p:txBody>
          <a:bodyPr>
            <a:normAutofit fontScale="90000"/>
          </a:bodyPr>
          <a:lstStyle/>
          <a:p>
            <a:r>
              <a:rPr lang="en-GB" sz="3600" b="1" dirty="0" smtClean="0">
                <a:solidFill>
                  <a:schemeClr val="tx1"/>
                </a:solidFill>
              </a:rPr>
              <a:t>     E-R Diagram for library management system:</a:t>
            </a:r>
            <a:endParaRPr lang="en-US" sz="3600" b="1" dirty="0">
              <a:solidFill>
                <a:schemeClr val="tx1"/>
              </a:solidFill>
            </a:endParaRPr>
          </a:p>
        </p:txBody>
      </p:sp>
      <p:pic>
        <p:nvPicPr>
          <p:cNvPr id="5" name="Content Placeholder 4" descr="Screenshot (25)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1472" y="1571612"/>
            <a:ext cx="7786742" cy="4806601"/>
          </a:xfr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4294967295"/>
          </p:nvPr>
        </p:nvSpPr>
        <p:spPr>
          <a:xfrm>
            <a:off x="285720" y="857232"/>
            <a:ext cx="8643998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sz="2400" dirty="0" smtClean="0">
                <a:latin typeface="Calibri" pitchFamily="34" charset="0"/>
                <a:cs typeface="Calibri" pitchFamily="34" charset="0"/>
              </a:rPr>
              <a:t>Q1)Write a query to display total number books available in library .</a:t>
            </a:r>
          </a:p>
          <a:p>
            <a:pPr>
              <a:buNone/>
            </a:pPr>
            <a:endParaRPr lang="en-GB" sz="2400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en-GB" sz="2400" b="1" dirty="0" smtClean="0">
                <a:latin typeface="Calibri" pitchFamily="34" charset="0"/>
                <a:cs typeface="Calibri" pitchFamily="34" charset="0"/>
              </a:rPr>
              <a:t>Query:</a:t>
            </a:r>
          </a:p>
          <a:p>
            <a:pPr>
              <a:buNone/>
            </a:pPr>
            <a:r>
              <a:rPr lang="en-GB" sz="2400" dirty="0" smtClean="0">
                <a:latin typeface="Calibri" pitchFamily="34" charset="0"/>
                <a:cs typeface="Calibri" pitchFamily="34" charset="0"/>
              </a:rPr>
              <a:t>Select  sum( No_Of_copies_Available)  as  total_no_of_books  from Book_Details;</a:t>
            </a:r>
          </a:p>
          <a:p>
            <a:pPr>
              <a:buNone/>
            </a:pPr>
            <a:r>
              <a:rPr lang="en-GB" sz="2400" b="1" dirty="0" smtClean="0">
                <a:latin typeface="Calibri" pitchFamily="34" charset="0"/>
                <a:cs typeface="Calibri" pitchFamily="34" charset="0"/>
              </a:rPr>
              <a:t>Output:</a:t>
            </a:r>
            <a:endParaRPr lang="en-US" sz="2400" b="1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0" name="Picture 9" descr="Screenshot (17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918" y="4000504"/>
            <a:ext cx="5487128" cy="24219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4294967295"/>
          </p:nvPr>
        </p:nvSpPr>
        <p:spPr>
          <a:xfrm>
            <a:off x="285720" y="857232"/>
            <a:ext cx="8643998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sz="2400" dirty="0" smtClean="0">
                <a:latin typeface="Calibri" pitchFamily="34" charset="0"/>
                <a:cs typeface="Calibri" pitchFamily="34" charset="0"/>
              </a:rPr>
              <a:t>Q2)Write a query to display all book names where more than 2 copies should be available.</a:t>
            </a:r>
          </a:p>
          <a:p>
            <a:pPr>
              <a:buNone/>
            </a:pPr>
            <a:endParaRPr lang="en-GB" sz="2400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en-GB" sz="2400" b="1" dirty="0" smtClean="0">
                <a:latin typeface="Calibri" pitchFamily="34" charset="0"/>
                <a:cs typeface="Calibri" pitchFamily="34" charset="0"/>
              </a:rPr>
              <a:t>Query:</a:t>
            </a:r>
          </a:p>
          <a:p>
            <a:pPr>
              <a:buNone/>
            </a:pPr>
            <a:r>
              <a:rPr lang="en-GB" sz="2400" dirty="0" smtClean="0">
                <a:latin typeface="Calibri" pitchFamily="34" charset="0"/>
                <a:cs typeface="Calibri" pitchFamily="34" charset="0"/>
              </a:rPr>
              <a:t>Select  Book_Name , No_Of_copies_Available from  Book_details where No_Of_copies_Available&gt;2;</a:t>
            </a:r>
          </a:p>
          <a:p>
            <a:pPr>
              <a:buNone/>
            </a:pPr>
            <a:r>
              <a:rPr lang="en-GB" sz="2400" b="1" dirty="0" smtClean="0">
                <a:latin typeface="Calibri" pitchFamily="34" charset="0"/>
                <a:cs typeface="Calibri" pitchFamily="34" charset="0"/>
              </a:rPr>
              <a:t>Output:</a:t>
            </a:r>
            <a:endParaRPr lang="en-US" sz="2400" b="1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5" name="Picture 4" descr="Screenshot (1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984" y="3857628"/>
            <a:ext cx="4585468" cy="25658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4294967295"/>
          </p:nvPr>
        </p:nvSpPr>
        <p:spPr>
          <a:xfrm>
            <a:off x="285720" y="857232"/>
            <a:ext cx="8643998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sz="2400" dirty="0" smtClean="0">
                <a:latin typeface="Calibri" pitchFamily="34" charset="0"/>
                <a:cs typeface="Calibri" pitchFamily="34" charset="0"/>
              </a:rPr>
              <a:t>Q3)Write a query to display total member names who have taken more than 2 books.</a:t>
            </a:r>
          </a:p>
          <a:p>
            <a:pPr>
              <a:buNone/>
            </a:pPr>
            <a:endParaRPr lang="en-GB" sz="2400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en-GB" sz="2400" b="1" dirty="0" smtClean="0">
                <a:latin typeface="Calibri" pitchFamily="34" charset="0"/>
                <a:cs typeface="Calibri" pitchFamily="34" charset="0"/>
              </a:rPr>
              <a:t>Query:</a:t>
            </a:r>
          </a:p>
          <a:p>
            <a:pPr>
              <a:buNone/>
            </a:pPr>
            <a:r>
              <a:rPr lang="en-GB" sz="2400" dirty="0" smtClean="0">
                <a:latin typeface="Calibri" pitchFamily="34" charset="0"/>
                <a:cs typeface="Calibri" pitchFamily="34" charset="0"/>
              </a:rPr>
              <a:t>select  Member_Name , No_of_Books_issued  from  Student_Detail where No_of_Books_issued&gt;2;</a:t>
            </a:r>
          </a:p>
          <a:p>
            <a:pPr>
              <a:buNone/>
            </a:pPr>
            <a:r>
              <a:rPr lang="en-GB" sz="2400" b="1" dirty="0" smtClean="0">
                <a:latin typeface="Calibri" pitchFamily="34" charset="0"/>
                <a:cs typeface="Calibri" pitchFamily="34" charset="0"/>
              </a:rPr>
              <a:t>Output:</a:t>
            </a:r>
            <a:endParaRPr lang="en-US" sz="2400" b="1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4" name="Picture 3" descr="Screenshot (1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36" y="3929066"/>
            <a:ext cx="3357586" cy="255305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4294967295"/>
          </p:nvPr>
        </p:nvSpPr>
        <p:spPr>
          <a:xfrm>
            <a:off x="285720" y="857232"/>
            <a:ext cx="8643998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sz="2400" dirty="0" smtClean="0">
                <a:latin typeface="Calibri" pitchFamily="34" charset="0"/>
                <a:cs typeface="Calibri" pitchFamily="34" charset="0"/>
              </a:rPr>
              <a:t>Q4)Write a query to display total member names who have paid fees more than 5rupees.</a:t>
            </a:r>
          </a:p>
          <a:p>
            <a:pPr>
              <a:buNone/>
            </a:pPr>
            <a:r>
              <a:rPr lang="en-GB" sz="2400" b="1" dirty="0" smtClean="0">
                <a:latin typeface="Calibri" pitchFamily="34" charset="0"/>
                <a:cs typeface="Calibri" pitchFamily="34" charset="0"/>
              </a:rPr>
              <a:t>Query:</a:t>
            </a:r>
          </a:p>
          <a:p>
            <a:pPr>
              <a:buNone/>
            </a:pPr>
            <a:r>
              <a:rPr lang="en-GB" sz="2400" dirty="0" smtClean="0">
                <a:latin typeface="Calibri" pitchFamily="34" charset="0"/>
                <a:cs typeface="Calibri" pitchFamily="34" charset="0"/>
              </a:rPr>
              <a:t>Select  Student_Detail.Member_Name ,Library_Detail.Total_Fine from  Student_Detail  inner join  Library_Detail on Student_Detail.Member_ID = Library_Detail.Member_ID where Library_Detail.Total_Fine&gt;5;</a:t>
            </a:r>
          </a:p>
          <a:p>
            <a:pPr>
              <a:buNone/>
            </a:pPr>
            <a:r>
              <a:rPr lang="en-GB" sz="2400" b="1" dirty="0" smtClean="0">
                <a:latin typeface="Calibri" pitchFamily="34" charset="0"/>
                <a:cs typeface="Calibri" pitchFamily="34" charset="0"/>
              </a:rPr>
              <a:t>Output:</a:t>
            </a:r>
            <a:endParaRPr lang="en-US" sz="2400" b="1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5" name="Picture 4" descr="Screenshot (18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36" y="3874946"/>
            <a:ext cx="3643338" cy="248301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4294967295"/>
          </p:nvPr>
        </p:nvSpPr>
        <p:spPr>
          <a:xfrm>
            <a:off x="285720" y="857232"/>
            <a:ext cx="885828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sz="2400" dirty="0" smtClean="0">
                <a:latin typeface="Calibri" pitchFamily="34" charset="0"/>
                <a:cs typeface="Calibri" pitchFamily="34" charset="0"/>
              </a:rPr>
              <a:t>Q5)Write a query to display student name and no of days they returned book.</a:t>
            </a:r>
          </a:p>
          <a:p>
            <a:pPr>
              <a:buNone/>
            </a:pPr>
            <a:r>
              <a:rPr lang="en-GB" sz="2400" b="1" dirty="0" smtClean="0">
                <a:latin typeface="Calibri" pitchFamily="34" charset="0"/>
                <a:cs typeface="Calibri" pitchFamily="34" charset="0"/>
              </a:rPr>
              <a:t>Query:</a:t>
            </a:r>
          </a:p>
          <a:p>
            <a:pPr>
              <a:buNone/>
            </a:pPr>
            <a:r>
              <a:rPr lang="en-GB" sz="2400" dirty="0" smtClean="0">
                <a:latin typeface="Calibri" pitchFamily="34" charset="0"/>
                <a:cs typeface="Calibri" pitchFamily="34" charset="0"/>
              </a:rPr>
              <a:t>Select Student_Detail.Member_Name,</a:t>
            </a:r>
          </a:p>
          <a:p>
            <a:pPr>
              <a:buNone/>
            </a:pPr>
            <a:r>
              <a:rPr lang="en-GB" sz="2400" dirty="0" smtClean="0">
                <a:latin typeface="Calibri" pitchFamily="34" charset="0"/>
                <a:cs typeface="Calibri" pitchFamily="34" charset="0"/>
              </a:rPr>
              <a:t>datediff(Return_Date,Issue_date) from  Student_Detail  inner join Library_Detail on Student_Detail.Member_ID=Library_Detail.Member_ID;</a:t>
            </a:r>
          </a:p>
          <a:p>
            <a:pPr>
              <a:buNone/>
            </a:pPr>
            <a:r>
              <a:rPr lang="en-GB" sz="2400" b="1" dirty="0" smtClean="0">
                <a:latin typeface="Calibri" pitchFamily="34" charset="0"/>
                <a:cs typeface="Calibri" pitchFamily="34" charset="0"/>
              </a:rPr>
              <a:t>Output:</a:t>
            </a:r>
            <a:endParaRPr lang="en-US" sz="2400" b="1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6" name="Picture 5" descr="Screenshot (20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0298" y="3929066"/>
            <a:ext cx="5072098" cy="267790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4294967295"/>
          </p:nvPr>
        </p:nvSpPr>
        <p:spPr>
          <a:xfrm>
            <a:off x="285720" y="857232"/>
            <a:ext cx="885828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sz="2400" dirty="0" smtClean="0">
                <a:latin typeface="Calibri" pitchFamily="34" charset="0"/>
                <a:cs typeface="Calibri" pitchFamily="34" charset="0"/>
              </a:rPr>
              <a:t>Q6)Write a query to display book name and author name and order the books by alphabetical order of book names</a:t>
            </a:r>
          </a:p>
          <a:p>
            <a:pPr>
              <a:buNone/>
            </a:pPr>
            <a:r>
              <a:rPr lang="en-GB" sz="2400" b="1" dirty="0" smtClean="0">
                <a:latin typeface="Calibri" pitchFamily="34" charset="0"/>
                <a:cs typeface="Calibri" pitchFamily="34" charset="0"/>
              </a:rPr>
              <a:t>Query:</a:t>
            </a:r>
          </a:p>
          <a:p>
            <a:pPr>
              <a:buNone/>
            </a:pPr>
            <a:r>
              <a:rPr lang="en-GB" sz="2400" dirty="0" smtClean="0">
                <a:latin typeface="Calibri" pitchFamily="34" charset="0"/>
                <a:cs typeface="Calibri" pitchFamily="34" charset="0"/>
              </a:rPr>
              <a:t>Select  Book_Name, Author  from  Book_Details  order  by Book_Name  asc;</a:t>
            </a:r>
          </a:p>
          <a:p>
            <a:pPr>
              <a:buNone/>
            </a:pPr>
            <a:r>
              <a:rPr lang="en-GB" sz="2400" b="1" dirty="0" smtClean="0">
                <a:latin typeface="Calibri" pitchFamily="34" charset="0"/>
                <a:cs typeface="Calibri" pitchFamily="34" charset="0"/>
              </a:rPr>
              <a:t>Output:</a:t>
            </a:r>
            <a:endParaRPr lang="en-US" sz="2400" b="1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4" name="Picture 3" descr="Screenshot (2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32" y="3357562"/>
            <a:ext cx="4572032" cy="266587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4294967295"/>
          </p:nvPr>
        </p:nvSpPr>
        <p:spPr>
          <a:xfrm>
            <a:off x="285720" y="857232"/>
            <a:ext cx="885828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sz="2400" dirty="0" smtClean="0">
                <a:latin typeface="Calibri" pitchFamily="34" charset="0"/>
                <a:cs typeface="Calibri" pitchFamily="34" charset="0"/>
              </a:rPr>
              <a:t>Q7)Write a query to display respective branch and member id and</a:t>
            </a:r>
          </a:p>
          <a:p>
            <a:pPr>
              <a:buNone/>
            </a:pPr>
            <a:r>
              <a:rPr lang="en-GB" sz="2400" dirty="0" smtClean="0">
                <a:latin typeface="Calibri" pitchFamily="34" charset="0"/>
                <a:cs typeface="Calibri" pitchFamily="34" charset="0"/>
              </a:rPr>
              <a:t>Book name.</a:t>
            </a:r>
          </a:p>
          <a:p>
            <a:pPr>
              <a:buNone/>
            </a:pPr>
            <a:r>
              <a:rPr lang="en-GB" sz="2400" b="1" dirty="0" smtClean="0">
                <a:latin typeface="Calibri" pitchFamily="34" charset="0"/>
                <a:cs typeface="Calibri" pitchFamily="34" charset="0"/>
              </a:rPr>
              <a:t>Query:</a:t>
            </a:r>
          </a:p>
          <a:p>
            <a:pPr>
              <a:buNone/>
            </a:pPr>
            <a:r>
              <a:rPr lang="en-GB" sz="2400" dirty="0" smtClean="0">
                <a:latin typeface="Calibri" pitchFamily="34" charset="0"/>
                <a:cs typeface="Calibri" pitchFamily="34" charset="0"/>
              </a:rPr>
              <a:t>select  Branch , Member_ID , Book_Name  from  Student_Detail  </a:t>
            </a:r>
          </a:p>
          <a:p>
            <a:pPr>
              <a:buNone/>
            </a:pPr>
            <a:r>
              <a:rPr lang="en-GB" sz="2400" dirty="0" smtClean="0">
                <a:latin typeface="Calibri" pitchFamily="34" charset="0"/>
                <a:cs typeface="Calibri" pitchFamily="34" charset="0"/>
              </a:rPr>
              <a:t>Inner  join  Book_Details  on </a:t>
            </a:r>
          </a:p>
          <a:p>
            <a:pPr>
              <a:buNone/>
            </a:pPr>
            <a:r>
              <a:rPr lang="en-GB" sz="2400" dirty="0" smtClean="0">
                <a:latin typeface="Calibri" pitchFamily="34" charset="0"/>
                <a:cs typeface="Calibri" pitchFamily="34" charset="0"/>
              </a:rPr>
              <a:t>Student_Detail.Issued_Book_ID  =  Book_Details.Book_ID;</a:t>
            </a:r>
          </a:p>
          <a:p>
            <a:pPr>
              <a:buNone/>
            </a:pPr>
            <a:r>
              <a:rPr lang="en-GB" sz="2400" b="1" dirty="0" smtClean="0">
                <a:latin typeface="Calibri" pitchFamily="34" charset="0"/>
                <a:cs typeface="Calibri" pitchFamily="34" charset="0"/>
              </a:rPr>
              <a:t>Output:</a:t>
            </a:r>
            <a:endParaRPr lang="en-US" sz="2400" b="1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5" name="Picture 4" descr="Screenshot (2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794" y="3929066"/>
            <a:ext cx="5357850" cy="264320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4294967295"/>
          </p:nvPr>
        </p:nvSpPr>
        <p:spPr>
          <a:xfrm>
            <a:off x="285720" y="857232"/>
            <a:ext cx="885828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sz="2400" dirty="0" smtClean="0">
                <a:latin typeface="Calibri" pitchFamily="34" charset="0"/>
                <a:cs typeface="Calibri" pitchFamily="34" charset="0"/>
              </a:rPr>
              <a:t>Q8) write  query  to  display  Member_ID , Book_ID, Issue_Date display  in  sorted  order  of  issue_date.</a:t>
            </a:r>
          </a:p>
          <a:p>
            <a:pPr>
              <a:buNone/>
            </a:pPr>
            <a:r>
              <a:rPr lang="en-GB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GB" sz="2400" b="1" dirty="0" smtClean="0">
                <a:latin typeface="Calibri" pitchFamily="34" charset="0"/>
                <a:cs typeface="Calibri" pitchFamily="34" charset="0"/>
              </a:rPr>
              <a:t>Query:</a:t>
            </a:r>
          </a:p>
          <a:p>
            <a:pPr>
              <a:buNone/>
            </a:pPr>
            <a:r>
              <a:rPr lang="en-GB" sz="2400" dirty="0" smtClean="0">
                <a:latin typeface="Calibri" pitchFamily="34" charset="0"/>
                <a:cs typeface="Calibri" pitchFamily="34" charset="0"/>
              </a:rPr>
              <a:t>select  Member_ID, Book_ID, Issue_Date  from  Library_Detail  order by  Issue_date; </a:t>
            </a:r>
          </a:p>
          <a:p>
            <a:pPr>
              <a:buNone/>
            </a:pPr>
            <a:r>
              <a:rPr lang="en-GB" sz="2400" b="1" dirty="0" smtClean="0">
                <a:latin typeface="Calibri" pitchFamily="34" charset="0"/>
                <a:cs typeface="Calibri" pitchFamily="34" charset="0"/>
              </a:rPr>
              <a:t>Output:</a:t>
            </a:r>
            <a:endParaRPr lang="en-US" sz="2400" b="1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4" name="Picture 3" descr="Screenshot (2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794" y="3214686"/>
            <a:ext cx="4929222" cy="314327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4294967295"/>
          </p:nvPr>
        </p:nvSpPr>
        <p:spPr>
          <a:xfrm>
            <a:off x="285720" y="857232"/>
            <a:ext cx="885828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sz="3600" b="1" dirty="0" smtClean="0">
                <a:solidFill>
                  <a:srgbClr val="CC9900"/>
                </a:solidFill>
                <a:latin typeface="Calibri" pitchFamily="34" charset="0"/>
                <a:cs typeface="Calibri" pitchFamily="34" charset="0"/>
              </a:rPr>
              <a:t>REFERENCES:</a:t>
            </a:r>
          </a:p>
          <a:p>
            <a:pPr>
              <a:buNone/>
            </a:pPr>
            <a:endParaRPr lang="en-GB" sz="3600" b="1" dirty="0" smtClean="0">
              <a:latin typeface="Calibri" pitchFamily="34" charset="0"/>
              <a:cs typeface="Calibri" pitchFamily="34" charset="0"/>
            </a:endParaRPr>
          </a:p>
          <a:p>
            <a:pPr marL="457200" lvl="0" indent="-342900">
              <a:spcBef>
                <a:spcPts val="0"/>
              </a:spcBef>
              <a:buClrTx/>
              <a:buSzPts val="1800"/>
              <a:buFont typeface="Arial" pitchFamily="34" charset="0"/>
              <a:buChar char="•"/>
            </a:pPr>
            <a:r>
              <a:rPr lang="en-US" sz="3200" u="sng" dirty="0" smtClean="0">
                <a:solidFill>
                  <a:schemeClr val="hlink"/>
                </a:solidFill>
                <a:hlinkClick r:id="rId2"/>
              </a:rPr>
              <a:t>https://github.com/</a:t>
            </a:r>
            <a:endParaRPr lang="en-US" sz="3200" dirty="0" smtClean="0"/>
          </a:p>
          <a:p>
            <a:pPr marL="457200" lvl="0" indent="-342900">
              <a:spcBef>
                <a:spcPts val="0"/>
              </a:spcBef>
              <a:buClrTx/>
              <a:buSzPts val="1800"/>
              <a:buFont typeface="Arial" pitchFamily="34" charset="0"/>
              <a:buChar char="•"/>
            </a:pPr>
            <a:r>
              <a:rPr lang="en-US" sz="3200" u="sng" dirty="0" smtClean="0">
                <a:solidFill>
                  <a:schemeClr val="hlink"/>
                </a:solidFill>
                <a:hlinkClick r:id="rId3"/>
              </a:rPr>
              <a:t>https://www.w3schools.com/sql/default.asp</a:t>
            </a:r>
            <a:endParaRPr lang="en-US" sz="3200" dirty="0" smtClean="0"/>
          </a:p>
          <a:p>
            <a:pPr marL="457200" lvl="0" indent="-342900">
              <a:spcBef>
                <a:spcPts val="0"/>
              </a:spcBef>
              <a:buClrTx/>
              <a:buSzPts val="1800"/>
              <a:buFont typeface="Arial" pitchFamily="34" charset="0"/>
              <a:buChar char="•"/>
            </a:pPr>
            <a:r>
              <a:rPr lang="en-US" sz="3200" u="sng" dirty="0" smtClean="0">
                <a:solidFill>
                  <a:schemeClr val="hlink"/>
                </a:solidFill>
                <a:hlinkClick r:id="rId4"/>
              </a:rPr>
              <a:t>https://www.tutorialspoint.com/sql/sql-overview.htm</a:t>
            </a:r>
            <a:endParaRPr lang="en-US" sz="3200" dirty="0" smtClean="0"/>
          </a:p>
          <a:p>
            <a:pPr marL="457200" lvl="0" indent="-342900">
              <a:spcBef>
                <a:spcPts val="0"/>
              </a:spcBef>
              <a:buClrTx/>
              <a:buSzPts val="1800"/>
              <a:buFont typeface="Arial" pitchFamily="34" charset="0"/>
              <a:buChar char="•"/>
            </a:pPr>
            <a:r>
              <a:rPr lang="en-US" sz="3200" u="sng" dirty="0" smtClean="0">
                <a:solidFill>
                  <a:schemeClr val="hlink"/>
                </a:solidFill>
                <a:hlinkClick r:id="rId5"/>
              </a:rPr>
              <a:t>https://www.geeksforgeeks.org/sql-tutorial/</a:t>
            </a:r>
            <a:endParaRPr lang="en-US" sz="3200" dirty="0" smtClean="0"/>
          </a:p>
          <a:p>
            <a:pPr>
              <a:buNone/>
            </a:pPr>
            <a:endParaRPr lang="en-GB" sz="3600" b="1" dirty="0" smtClean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714356"/>
            <a:ext cx="8229600" cy="517525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sz="9600" dirty="0" smtClean="0"/>
              <a:t>   </a:t>
            </a:r>
          </a:p>
          <a:p>
            <a:pPr>
              <a:buNone/>
            </a:pPr>
            <a:r>
              <a:rPr lang="en-GB" sz="9600" dirty="0" smtClean="0"/>
              <a:t> </a:t>
            </a:r>
            <a:r>
              <a:rPr lang="en-GB" sz="9600" dirty="0" smtClean="0">
                <a:solidFill>
                  <a:srgbClr val="00B0F0"/>
                </a:solidFill>
              </a:rPr>
              <a:t>Thank You</a:t>
            </a:r>
            <a:endParaRPr lang="en-US" sz="9600" dirty="0">
              <a:solidFill>
                <a:srgbClr val="00B0F0"/>
              </a:solidFill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242</TotalTime>
  <Words>475</Words>
  <Application>Microsoft Office PowerPoint</Application>
  <PresentationFormat>On-screen Show (4:3)</PresentationFormat>
  <Paragraphs>91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Flow</vt:lpstr>
      <vt:lpstr>LIBRARY MANAGEMENT SYSTEM</vt:lpstr>
      <vt:lpstr>What is SQL? Why it is used?</vt:lpstr>
      <vt:lpstr> What is query????</vt:lpstr>
      <vt:lpstr>What is library management system??</vt:lpstr>
      <vt:lpstr>DBMS in Library Management System</vt:lpstr>
      <vt:lpstr>Book_Details:</vt:lpstr>
      <vt:lpstr>Student_Detail:</vt:lpstr>
      <vt:lpstr>Library_Detail:</vt:lpstr>
      <vt:lpstr>     E-R Diagram:</vt:lpstr>
      <vt:lpstr>     E-R Diagram for library management system: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hp</dc:creator>
  <cp:lastModifiedBy>hp</cp:lastModifiedBy>
  <cp:revision>28</cp:revision>
  <dcterms:created xsi:type="dcterms:W3CDTF">2023-07-11T08:38:42Z</dcterms:created>
  <dcterms:modified xsi:type="dcterms:W3CDTF">2023-07-14T16:53:37Z</dcterms:modified>
</cp:coreProperties>
</file>